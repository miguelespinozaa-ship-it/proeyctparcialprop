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Unidades vendidas</c:v>
                </c:pt>
              </c:strCache>
            </c:strRef>
          </c:tx>
          <c:spPr>
            <a:solidFill>
              <a:srgbClr val="ED71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Pizza Margarita (Pizza Bella)</c:v>
                  </c:pt>
                  <c:pt idx="1">
                    <c:v>Ají de Gallina (Sabor Criollo)</c:v>
                  </c:pt>
                  <c:pt idx="2">
                    <c:v>Lomo Saltado (Sabor Criollo)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25209</c:v>
                </c:pt>
                <c:pt idx="1">
                  <c:v>20640</c:v>
                </c:pt>
                <c:pt idx="2">
                  <c:v>20593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B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Delivery Cloud: cinco microservicios en Docker, una aplicación web y un pipeline de datos, todo desplegado en AWS.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roles: customer, admin de restaurante y delivery. El pedido pasa por tres estados: PEDIDO, ENVIADO y ENTREGADO.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Cifras clave. Cada base de datos tiene más de 20,000 registros cargados de una sola vez con scripts incluidos en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petición entra por API Gateway y un VPC Link hacia un ALB interno. Las bases de datos y la ingesta viven en instancias sin acceso desde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MS3 valida cada plato contra MS2 antes de guardar el pedido. MS4 combina tres servicios sin base de datos propia. MS5 usa boto3 para consultar Athena.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Diagramas entidad-relación de las dos bases SQL. Las referencias entre servicios (customer_id, restaurant_id) son lógicas y se resuelven por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Estructura JSON del documento de restaurante. Al ser 20,000 documentos, el listado se paginó.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probó el balanceo con 30 peticiones y la tolerancia a fallos deteniendo NGINX en la segunda VM: la otra atendió todo el tráfico.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SPA tiene login y rutas por rol. Se despliega en AWS Amplify y habla con el API Gateway por HTTPS.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MV de ingesta ejecuta tres contenedores Python que hacen pull del 100% de las tablas y las suben a S3. Glue las cataloga y Athena las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entidad-relación de las cinco tablas del catálogo. Las relaciones son lógicas y se resuelven con JOIN en Athena.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ejecución tiene un ID que se puede verificar en el historial de consultas de la consola de Athena. El gráfico muestra las unidades vendidas de la consulta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Capturas reales de la consola de Amazon Athena con el workgroup pp-workgroup.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paginado se agregó sin romper a los consumidores: sin parámetros el comportamiento es el de siempre.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pruebas se ejecutaron en local y contra AWS a través del API Gateway.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Limitaciones conocidas y mejoras planeadas.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430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Cloud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delivery con microservicios, data lake y analítica en AWS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Parcial · Semanas 3 a 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Código: github.com/miguelespinozaa-ship-it/ProeyctParcialProp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Aplicación: main.duqtfdxa5tvcw.amplifyapp.com</a:t>
            </a:r>
            <a:endParaRPr lang="en-US" sz="1050" dirty="0"/>
          </a:p>
        </p:txBody>
      </p:sp>
      <p:pic>
        <p:nvPicPr>
          <p:cNvPr id="6" name="Image 0" descr="/home/m4ik_1/Documentos/cloudddd/entregables/capturas/01-customer-restaura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051560"/>
            <a:ext cx="3520440" cy="21452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pic>
        <p:nvPicPr>
          <p:cNvPr id="7" name="Image 1" descr="/home/m4ik_1/Documentos/cloudddd/entregables/capturas/03-admin-pedid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788920"/>
            <a:ext cx="2743200" cy="167163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plataforma de delivery con tres roles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rol tiene su propio flujo de punta a punta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ED7100"/>
          </a:solidFill>
          <a:ln w="12700">
            <a:solidFill>
              <a:srgbClr val="ED71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600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 restaurantes (20,000)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 su carrito y hace pedidos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 el pedido y deja reseñas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600200"/>
            <a:ext cx="502920" cy="502920"/>
          </a:xfrm>
          <a:prstGeom prst="ellipse">
            <a:avLst/>
          </a:prstGeom>
          <a:solidFill>
            <a:srgbClr val="ED7100"/>
          </a:solidFill>
          <a:ln w="12700">
            <a:solidFill>
              <a:srgbClr val="ED7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1600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de restaurante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286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 su menú (CRUD)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qué platos pidió cada cliente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Despacha el pedido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417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600200"/>
            <a:ext cx="502920" cy="502920"/>
          </a:xfrm>
          <a:prstGeom prst="ellipse">
            <a:avLst/>
          </a:prstGeom>
          <a:solidFill>
            <a:srgbClr val="ED7100"/>
          </a:solidFill>
          <a:ln w="12700">
            <a:solidFill>
              <a:srgbClr val="ED71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600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286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los pedidos disponibles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un pedido (solo uno gana)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marca como entregado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Detrás: 5 microservicios en Docker, un data lake en S3 con analítica en Athena y una SPA en AWS Amplify.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en cifras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microservicios en Docker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337560" y="13716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2057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lenguajes y 3 bases de datos (2 SQL, 1 NoSQL)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3716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20,000+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057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en cada base de datos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virtuales (2 de App balanceadas)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333756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de Postman · 66 aserciones · 0 fallos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+ 2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con JOIN y vistas en Athena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solución</a:t>
            </a:r>
            <a:endParaRPr lang="en-US" sz="2800" dirty="0"/>
          </a:p>
        </p:txBody>
      </p:sp>
      <p:pic>
        <p:nvPicPr>
          <p:cNvPr id="3" name="Image 0" descr="/home/m4ik_1/Documentos/cloudddd/infra/diagramas/arquitectura-solu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5295" y="822960"/>
            <a:ext cx="658749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0" y="100584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06640" y="10789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de punta a punta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406640" y="15544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 → API Gateway → VPC Link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315200" y="228600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06640" y="235915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Balanceador interno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28346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sin IP pública reparte entre 2 VMs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315200" y="356616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06640" y="36393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privada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06640" y="41148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puertos abiertos a internet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microservicios, tres lenguajes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con su responsabilidad y su propia documentación Swagger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1591056" cy="2606040"/>
          </a:xfrm>
          <a:prstGeom prst="roundRect">
            <a:avLst>
              <a:gd name="adj" fmla="val 4598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75488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75488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/ Auth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75488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4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75488" y="29718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login JWT, perfil y direcciones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66544" y="1371600"/>
            <a:ext cx="1591056" cy="2606040"/>
          </a:xfrm>
          <a:prstGeom prst="roundRect">
            <a:avLst>
              <a:gd name="adj" fmla="val 4598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76272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176272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76272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176272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4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176272" y="29718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Restaurantes, menú y reseñas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767328" y="1371600"/>
            <a:ext cx="1591056" cy="2606040"/>
          </a:xfrm>
          <a:prstGeom prst="roundRect">
            <a:avLst>
              <a:gd name="adj" fmla="val 4598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77056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877056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877056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· Express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877056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4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877056" y="29718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y sus estados; consulta a MS1 y MS2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68112" y="1371600"/>
            <a:ext cx="1591056" cy="2606040"/>
          </a:xfrm>
          <a:prstGeom prst="roundRect">
            <a:avLst>
              <a:gd name="adj" fmla="val 4598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77840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5577840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577840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577840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4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base de datos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577840" y="29718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y dashboards con MS1, MS2 y MS3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168896" y="1371600"/>
            <a:ext cx="1591056" cy="2606040"/>
          </a:xfrm>
          <a:prstGeom prst="roundRect">
            <a:avLst>
              <a:gd name="adj" fmla="val 4598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78624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MS5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278624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78624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278624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4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Athena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278624" y="29718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SQL al data lake con boto3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MS3 consume a MS1 y MS2 · MS4 no tiene base de datos y solo consume a otros · MS5 ejecuta queries en Athena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 relacional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tablas relacionadas por cada base SQL</a:t>
            </a:r>
            <a:endParaRPr lang="en-US" sz="1400" dirty="0"/>
          </a:p>
        </p:txBody>
      </p:sp>
      <p:pic>
        <p:nvPicPr>
          <p:cNvPr id="4" name="Image 0" descr="/home/m4ik_1/Documentos/cloudddd/infra/diagramas/er-mysql-m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4114800" cy="2139696"/>
          </a:xfrm>
          <a:prstGeom prst="rect">
            <a:avLst/>
          </a:prstGeom>
        </p:spPr>
      </p:pic>
      <p:pic>
        <p:nvPicPr>
          <p:cNvPr id="5" name="Image 1" descr="/home/m4ik_1/Documentos/cloudddd/infra/diagramas/er-postgresql-ms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25880"/>
            <a:ext cx="4114800" cy="222199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3538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MS1 · MySQL 8.0 — usuarios 1:N direcciones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663440" y="362102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MS3 · PostgreSQL 16 — orders 1:N order_items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masiva única: 20,007 usuarios (seed.py) y 20,009 pedidos con 26,566 ítems (seed.js)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MongoDB: platos y reseñas embebidos</a:t>
            </a:r>
            <a:endParaRPr lang="en-US" sz="2800" dirty="0"/>
          </a:p>
        </p:txBody>
      </p:sp>
      <p:pic>
        <p:nvPicPr>
          <p:cNvPr id="3" name="Image 0" descr="/home/m4ik_1/Documentos/cloudddd/infra/diagramas/json-mongodb-m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05840"/>
            <a:ext cx="5486400" cy="313508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0" y="1188720"/>
            <a:ext cx="2651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restaurantes cargados con seed.js (mongosh)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Platos y reseñas van embebidos: se leen siempre junto al restaurante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 en categoría y ciudad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paginado: 12 restaurantes por página en la web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AWS con balanceo de carga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 → API Gateway → VPC Link → ALB interno → 2 VMs de App → BD privada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DECEF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Amplify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React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54480" y="182880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8308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DE7F1"/>
          </a:solidFill>
          <a:ln w="19050">
            <a:solidFill>
              <a:srgbClr val="E7157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8308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17520" y="182880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4612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1E9FF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Link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 privada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182880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1E9FF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916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interno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IP pública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82880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9050">
            <a:solidFill>
              <a:srgbClr val="ED71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7220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EC2 App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+ 5 MS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06640" y="182880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3524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6E9FB"/>
          </a:solidFill>
          <a:ln w="19050">
            <a:solidFill>
              <a:srgbClr val="3B48C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3524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BD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· PG · Mongo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743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13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429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peticiones atendidas por app-1 y app-2 (cabecera X-Served-By)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2743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de 30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3429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200 con una VM caída: el ALB la saca de rotación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27432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3429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 de la BD abiertos a internet (solo el SG de App e Ingesta)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en React, desplegada en AWS Amplify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de la aplicación en producción</a:t>
            </a:r>
            <a:endParaRPr lang="en-US" sz="1400" dirty="0"/>
          </a:p>
        </p:txBody>
      </p:sp>
      <p:pic>
        <p:nvPicPr>
          <p:cNvPr id="4" name="Image 0" descr="/home/m4ik_1/Documentos/cloudddd/entregables/capturas/01-customer-restaura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80160"/>
            <a:ext cx="2697480" cy="164377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365760" y="3015377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· 20,000 restaurantes paginados</a:t>
            </a:r>
            <a:endParaRPr lang="en-US" sz="1200" dirty="0"/>
          </a:p>
        </p:txBody>
      </p:sp>
      <p:pic>
        <p:nvPicPr>
          <p:cNvPr id="6" name="Image 1" descr="/home/m4ik_1/Documentos/cloudddd/entregables/capturas/02-customer-menu-resen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280160"/>
            <a:ext cx="2697480" cy="164377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7" name="Text 3"/>
          <p:cNvSpPr txBox="1"/>
          <p:nvPr/>
        </p:nvSpPr>
        <p:spPr>
          <a:xfrm>
            <a:off x="3200400" y="3015377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Reseñas: promedio, lista y formulario</a:t>
            </a:r>
            <a:endParaRPr lang="en-US" sz="1200" dirty="0"/>
          </a:p>
        </p:txBody>
      </p:sp>
      <p:pic>
        <p:nvPicPr>
          <p:cNvPr id="8" name="Image 2" descr="/home/m4ik_1/Documentos/cloudddd/entregables/capturas/03-admin-pedid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697480" cy="164377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9" name="Text 4"/>
          <p:cNvSpPr txBox="1"/>
          <p:nvPr/>
        </p:nvSpPr>
        <p:spPr>
          <a:xfrm>
            <a:off x="6035040" y="3015377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· platos y cantidades de cada pedido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 los 5 microservicios por el API Gateway: 5 · 9 · 8 · 4 · 2 llamadas REST hacia MS1 … MS5 (el mínimo pedido era 2 por servicio).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Data Science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bases de datos a una consulta SQL en Athena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6E9FB"/>
          </a:solidFill>
          <a:ln w="19050">
            <a:solidFill>
              <a:srgbClr val="3B48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bases de datos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· PG · Mongo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54480" y="189738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8308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FFF3E0"/>
          </a:solidFill>
          <a:ln w="19050">
            <a:solidFill>
              <a:srgbClr val="ED7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8308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 de ingesta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contenedores Python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17520" y="189738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4612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8F5E1"/>
          </a:solidFill>
          <a:ln w="19050">
            <a:solidFill>
              <a:srgbClr val="3F86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Data Lake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JSONL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189738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F1E9FF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916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Glue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+ catálogo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89738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F1E9FF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7220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Athena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· 2 vistas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06640" y="189738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3524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FDECEF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3524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MS5 → Web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Analítica en la SPA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8803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del 100 %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383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contenedor extrae todas las tablas de un microservicio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46120" y="28803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refresh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383280" y="3383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reemplaza el snapshot anterior: sin duplicados en Athena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35040" y="28803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tablas en Glue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3383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usuarios, direcciones, orders, order_items y mongodb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datos en AWS Glue</a:t>
            </a:r>
            <a:endParaRPr lang="en-US" sz="2800" dirty="0"/>
          </a:p>
        </p:txBody>
      </p:sp>
      <p:pic>
        <p:nvPicPr>
          <p:cNvPr id="3" name="Image 0" descr="/home/m4ik_1/Documentos/cloudddd/infra/diagramas/er-catalogo-g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777240"/>
            <a:ext cx="8046720" cy="413209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y vistas en Amazon Athena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consultas con JOIN sobre varias tablas y 2 vistas · con el ID de cada ejecución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822960"/>
                <a:gridCol w="19202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Tablas unidas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de ejecución (Athena)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Ventas por restaurante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+ order_items + mongodb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6568912e-2abe…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Clientes con mayor gasto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+ usuarios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890bb508-1f76…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Platos más vendidos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order_items + orders + mongodb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8b7213e4-57ce…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Ciudad del cliente vs. entrega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+ usuarios + direcciones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45f534a4-801f…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Vista v_resumen_ventas_restaurante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JOIN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ac099df1-4664…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Vista v_metricas_usuarios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JOIN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13e4a748-b0ae…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457200" y="3657600"/>
          <a:ext cx="82296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en la consola de Athena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de las consultas y vistas ejecutadas sobre el data lake</a:t>
            </a:r>
            <a:endParaRPr lang="en-US" sz="1400" dirty="0"/>
          </a:p>
        </p:txBody>
      </p:sp>
      <p:pic>
        <p:nvPicPr>
          <p:cNvPr id="4" name="Image 0" descr="/home/m4ik_1/Documentos/cloudddd/entregables/capturas-athena/consult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280160"/>
            <a:ext cx="2743200" cy="15430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1691640" y="286893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1 · ventas por restaurante</a:t>
            </a:r>
            <a:endParaRPr lang="en-US" sz="1100" dirty="0"/>
          </a:p>
        </p:txBody>
      </p:sp>
      <p:pic>
        <p:nvPicPr>
          <p:cNvPr id="6" name="Image 1" descr="/home/m4ik_1/Documentos/cloudddd/entregables/capturas-athena/consulta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280160"/>
            <a:ext cx="2743200" cy="15430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7" name="Text 3"/>
          <p:cNvSpPr txBox="1"/>
          <p:nvPr/>
        </p:nvSpPr>
        <p:spPr>
          <a:xfrm>
            <a:off x="4709160" y="286893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2 · clientes con mayor gasto</a:t>
            </a:r>
            <a:endParaRPr lang="en-US" sz="1100" dirty="0"/>
          </a:p>
        </p:txBody>
      </p:sp>
      <p:pic>
        <p:nvPicPr>
          <p:cNvPr id="8" name="Image 2" descr="/home/m4ik_1/Documentos/cloudddd/entregables/capturas-athena/consulta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3207258"/>
            <a:ext cx="2743200" cy="15430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9" name="Text 4"/>
          <p:cNvSpPr txBox="1"/>
          <p:nvPr/>
        </p:nvSpPr>
        <p:spPr>
          <a:xfrm>
            <a:off x="1691640" y="47960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3 · platos más vendidos</a:t>
            </a:r>
            <a:endParaRPr lang="en-US" sz="1100" dirty="0"/>
          </a:p>
        </p:txBody>
      </p:sp>
      <p:pic>
        <p:nvPicPr>
          <p:cNvPr id="10" name="Image 3" descr="/home/m4ik_1/Documentos/cloudddd/entregables/capturas-athena/vista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207258"/>
            <a:ext cx="2743200" cy="15430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11" name="Text 5"/>
          <p:cNvSpPr txBox="1"/>
          <p:nvPr/>
        </p:nvSpPr>
        <p:spPr>
          <a:xfrm>
            <a:off x="4709160" y="47960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v_resumen_ventas_restaurante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Paginado opcional: de megabytes a kilobytes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ruta, dos modos: sin parámetros devuelve todo; con ?page= y ?page_size= devuelve una página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1417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paginar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035040" y="1417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Paginado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admin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1828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MB · 0.84 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KB · 60 ms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269748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697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(MS1)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2697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 MB · 2.3 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página: 14 ms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5661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Restaurantes (20,000)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3566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MB · 1.0 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566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12: 14 ms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page_size vale 20 por defecto y se limita a 100 · total en la cabecera X-Total-Count · mediciones locales con unos 40 mil pedidos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y validación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de Postman/Newman · 66 aserciones · 0 fallos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88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roles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 completos con Playwright sobre la URL de Amplify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1887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30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200 con una de las 2 VMs caída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4640"/>
            <a:ext cx="7772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error incluidos: 400, 401 y 422; con y sin paginado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Conteos de Athena coinciden con las bases de datos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 22, 3306, 5432 y 27017 cerrados a internet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verificado en los 5 servicios a través del API Gateway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y próximos pasos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actuales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VMs aún aceptan el puerto 80 desde internet: cerrar y dejar solo el ALB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 se despliega con un zip: conectar GitHub para CI/CD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VMs t2.micro (1 GB) con swap: subir a t3.small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830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 el usuario de las reseñas del token JWT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la ingesta y el crawler (EventBridge)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password_hash del data lake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1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Cloud · microservicios, data lake y analítica en AWS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8046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fuente (repositorio público) 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github.com/miguelespinozaa-ship-it/ProeyctParcialProp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(AWS Amplify) 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main.duqtfdxa5tvcw.amplifyapp.com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pública (API Gateway, HTTPS) 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jt3z0elcud.execute-api.us-east-1.amazonaws.com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Delivery Cloud</dc:title>
  <dc:subject>PptxGenJS Presentation</dc:subject>
  <dc:creator>PptxGenJS</dc:creator>
  <cp:lastModifiedBy>PptxGenJS</cp:lastModifiedBy>
  <cp:revision>1</cp:revision>
  <dcterms:created xsi:type="dcterms:W3CDTF">2026-09-21T13:41:32Z</dcterms:created>
  <dcterms:modified xsi:type="dcterms:W3CDTF">2026-09-21T13:41:32Z</dcterms:modified>
</cp:coreProperties>
</file>
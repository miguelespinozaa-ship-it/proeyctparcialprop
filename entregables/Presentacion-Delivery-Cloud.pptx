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Unidades vendidas</c:v>
                </c:pt>
              </c:strCache>
            </c:strRef>
          </c:tx>
          <c:spPr>
            <a:solidFill>
              <a:srgbClr val="ED7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Pizza Margarita (Pizza Bella)</c:v>
                  </c:pt>
                  <c:pt idx="1">
                    <c:v>Ají de Gallina (Sabor Criollo)</c:v>
                  </c:pt>
                  <c:pt idx="2">
                    <c:v>Lomo Saltado (Sabor Criollo)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25209</c:v>
                </c:pt>
                <c:pt idx="1">
                  <c:v>20640</c:v>
                </c:pt>
                <c:pt idx="2">
                  <c:v>20593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 Delivery Cloud: cinco microservicios en Docker, una aplicación web y un pipeline de datos, todo desplegado en 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roles: customer, admin de restaurante y delivery. El pedido pasa por tres estados: PEDIDO, ENVIADO y ENTREGADO.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Cifras clave. Cada base de datos tiene más de 20,000 registros cargados de una sola vez con scripts incluidos en 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petición entra por API Gateway y un VPC Link hacia un ALB interno. Las bases de datos y la ingesta viven en instancias sin acceso desde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MS3 valida cada plato contra MS2 antes de guardar el pedido. MS4 combina tres servicios sin base de datos propia. MS5 usa boto3 para consultar Athena.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Diagramas entidad-relación de las dos bases SQL. Las referencias entre servicios (customer_id, restaurant_id) son lógicas y se resuelven por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Estructura JSON del documento de restaurante. Al ser 20,000 documentos, el listado se paginó.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probó el balanceo con 30 peticiones y la tolerancia a fallos deteniendo NGINX en la segunda VM: la otra atendió todo el tráfico.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SPA tiene login y rutas por rol. Se despliega en AWS Amplify y habla con el API Gateway por HTTPS.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MV de ingesta ejecuta tres contenedores Python que hacen pull del 100% de las tablas y las suben a S3. Glue las cataloga y Athena las consulta.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entidad-relación de las cinco tablas del catálogo. Las relaciones son lógicas y se resuelven con JOIN en Athena.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ejecución tiene un ID que se puede verificar en el historial de consultas de la consola de Athena. El gráfico muestra las unidades vendidas de la consulta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paginado se agregó sin romper a los consumidores: sin parámetros el comportamiento es el de siempre.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pruebas se ejecutaron en local y contra AWS a través del API Gateway.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Limitaciones conocidas y mejoras planeadas.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430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Cloud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delivery con microservicios, data lake y analítica en AWS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Parcial · Semanas 3 a 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Código: github.com/miguelespinozaa-ship-it/ProeyctParcialProp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Aplicación: main.duqtfdxa5tvcw.amplifyapp.com</a:t>
            </a:r>
            <a:endParaRPr lang="en-US" sz="1050" dirty="0"/>
          </a:p>
        </p:txBody>
      </p:sp>
      <p:pic>
        <p:nvPicPr>
          <p:cNvPr id="6" name="Image 0" descr="/home/m4ik_1/Documentos/cloudddd/entregables/capturas/01-customer-restaura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051560"/>
            <a:ext cx="3520440" cy="214526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pic>
      <p:pic>
        <p:nvPicPr>
          <p:cNvPr id="7" name="Image 1" descr="/home/m4ik_1/Documentos/cloudddd/entregables/capturas/03-admin-pedid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788920"/>
            <a:ext cx="2743200" cy="167163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de delivery con tres roles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rol tiene su propio flujo de punta a punta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2F4F7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00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860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restaurantes (20,000)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 su carrito y hace pedidos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el pedido y deja reseñas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2F4F7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600200"/>
            <a:ext cx="502920" cy="502920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1600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de restaurante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2860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su menú (CRUD)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qué platos pidió cada cliente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Despacha el pedido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2F4F7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00200"/>
            <a:ext cx="502920" cy="502920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600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2860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los pedidos disponibles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un pedido (solo uno gana)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marca como entregado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Detrás: 5 microservicios en Docker, un data lake en S3 con analítica en Athena y una SPA en AWS Amplify.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en cifras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en Docker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337560" y="13716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3 bases de datos (2 SQL, 1 NoSQL)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3716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20,000+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en cada base de datos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63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 virtuales (2 de App balanceadas)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3063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de Postman · 66 aserciones · 0 fallos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3063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+ 2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con JOIN y vistas en Athena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solución</a:t>
            </a:r>
            <a:endParaRPr lang="en-US" sz="2800" dirty="0"/>
          </a:p>
        </p:txBody>
      </p:sp>
      <p:pic>
        <p:nvPicPr>
          <p:cNvPr id="3" name="Image 0" descr="/home/m4ik_1/Documentos/cloudddd/infra/diagramas/arquitectura-solu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295" y="822960"/>
            <a:ext cx="6587490" cy="4160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0" y="100584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F2F4F7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06640" y="10789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de punta a punta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406640" y="15544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 → API Gateway → VPC Link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315200" y="228600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F2F4F7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06640" y="23591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Balanceador interno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28346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sin IP pública reparte entre 2 VMs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315200" y="356616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F2F4F7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06640" y="36393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privada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406640" y="41148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puertos abiertos a internet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microservicios, tres lenguajes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con su responsabilidad y su propia documentación Swagger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591056" cy="2606040"/>
          </a:xfrm>
          <a:prstGeom prst="roundRect">
            <a:avLst>
              <a:gd name="adj" fmla="val 4598"/>
            </a:avLst>
          </a:prstGeom>
          <a:solidFill>
            <a:srgbClr val="F2F4F7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5488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75488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/ Auth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29718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login JWT, perfil y direcciones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66544" y="1371600"/>
            <a:ext cx="1591056" cy="2606040"/>
          </a:xfrm>
          <a:prstGeom prst="roundRect">
            <a:avLst>
              <a:gd name="adj" fmla="val 4598"/>
            </a:avLst>
          </a:prstGeom>
          <a:solidFill>
            <a:srgbClr val="F2F4F7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76272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176272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176272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Spring Boot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176272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176272" y="29718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Restaurantes, menú y reseñas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67328" y="1371600"/>
            <a:ext cx="1591056" cy="2606040"/>
          </a:xfrm>
          <a:prstGeom prst="roundRect">
            <a:avLst>
              <a:gd name="adj" fmla="val 4598"/>
            </a:avLst>
          </a:prstGeom>
          <a:solidFill>
            <a:srgbClr val="F2F4F7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77056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877056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877056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877056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877056" y="29718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y sus estados; consulta a MS1 y MS2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68112" y="1371600"/>
            <a:ext cx="1591056" cy="2606040"/>
          </a:xfrm>
          <a:prstGeom prst="roundRect">
            <a:avLst>
              <a:gd name="adj" fmla="val 4598"/>
            </a:avLst>
          </a:prstGeom>
          <a:solidFill>
            <a:srgbClr val="F2F4F7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7784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MS4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557784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Agregador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57784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base de datos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29718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y dashboards con MS1, MS2 y MS3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68896" y="1371600"/>
            <a:ext cx="1591056" cy="2606040"/>
          </a:xfrm>
          <a:prstGeom prst="roundRect">
            <a:avLst>
              <a:gd name="adj" fmla="val 4598"/>
            </a:avLst>
          </a:prstGeom>
          <a:solidFill>
            <a:srgbClr val="F2F4F7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78624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MS5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7278624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Analítico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278624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278624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Athena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278624" y="29718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SQL al data lake con boto3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MS3 consume a MS1 y MS2 · MS4 no tiene base de datos y solo consume a otros · MS5 ejecuta queries en Athena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relacional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tablas relacionadas por cada base SQL</a:t>
            </a:r>
            <a:endParaRPr lang="en-US" sz="1400" dirty="0"/>
          </a:p>
        </p:txBody>
      </p:sp>
      <p:pic>
        <p:nvPicPr>
          <p:cNvPr id="4" name="Image 0" descr="/home/m4ik_1/Documentos/cloudddd/infra/diagramas/er-mysql-m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25880"/>
            <a:ext cx="4114800" cy="2139696"/>
          </a:xfrm>
          <a:prstGeom prst="rect">
            <a:avLst/>
          </a:prstGeom>
        </p:spPr>
      </p:pic>
      <p:pic>
        <p:nvPicPr>
          <p:cNvPr id="5" name="Image 1" descr="/home/m4ik_1/Documentos/cloudddd/infra/diagramas/er-postgresql-ms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25880"/>
            <a:ext cx="4114800" cy="22219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35387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MS1 · MySQL 8.0 — usuarios 1:N direcciones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663440" y="36210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MS3 · PostgreSQL 16 — orders 1:N order_items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365760" y="42976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masiva única: 20,007 usuarios (seed.py) y 20,009 pedidos con 26,566 ítems (seed.js)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MongoDB: platos y reseñas embebidos</a:t>
            </a:r>
            <a:endParaRPr lang="en-US" sz="2800" dirty="0"/>
          </a:p>
        </p:txBody>
      </p:sp>
      <p:pic>
        <p:nvPicPr>
          <p:cNvPr id="3" name="Image 0" descr="/home/m4ik_1/Documentos/cloudddd/infra/diagramas/json-mongodb-m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486400" cy="313508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0" y="1188720"/>
            <a:ext cx="2651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restaurantes cargados con seed.js (mongosh)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Platos y reseñas van embebidos: se leen siempre junto al restaurante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en categoría y ciudad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paginado: 12 restaurantes por página en la web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AWS con balanceo de carga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 → API Gateway → VPC Link → ALB interno → 2 VMs de App → BD privada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DECEF"/>
          </a:solidFill>
          <a:ln w="19050">
            <a:solidFill>
              <a:srgbClr val="DD34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137160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Amplify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React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1828800"/>
            <a:ext cx="228600" cy="0"/>
          </a:xfrm>
          <a:prstGeom prst="line">
            <a:avLst/>
          </a:prstGeom>
          <a:noFill/>
          <a:ln w="19050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783080" y="13716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DE7F1"/>
          </a:solidFill>
          <a:ln w="19050">
            <a:solidFill>
              <a:srgbClr val="E7157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83080" y="137160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1828800"/>
            <a:ext cx="228600" cy="0"/>
          </a:xfrm>
          <a:prstGeom prst="line">
            <a:avLst/>
          </a:prstGeom>
          <a:noFill/>
          <a:ln w="19050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46120" y="13716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1E9FF"/>
          </a:solidFill>
          <a:ln w="19050">
            <a:solidFill>
              <a:srgbClr val="8C4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46120" y="137160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Link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 privada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1828800"/>
            <a:ext cx="228600" cy="0"/>
          </a:xfrm>
          <a:prstGeom prst="line">
            <a:avLst/>
          </a:prstGeom>
          <a:noFill/>
          <a:ln w="19050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09160" y="13716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1E9FF"/>
          </a:solidFill>
          <a:ln w="19050">
            <a:solidFill>
              <a:srgbClr val="8C4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09160" y="137160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interno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IP pública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828800"/>
            <a:ext cx="228600" cy="0"/>
          </a:xfrm>
          <a:prstGeom prst="line">
            <a:avLst/>
          </a:prstGeom>
          <a:noFill/>
          <a:ln w="19050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72200" y="13716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D71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137160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EC2 App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+ 5 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06640" y="1828800"/>
            <a:ext cx="228600" cy="0"/>
          </a:xfrm>
          <a:prstGeom prst="line">
            <a:avLst/>
          </a:prstGeom>
          <a:noFill/>
          <a:ln w="19050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35240" y="13716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E6E9FB"/>
          </a:solidFill>
          <a:ln w="19050">
            <a:solidFill>
              <a:srgbClr val="3B48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35240" y="137160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BD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PG · Mongo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7432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13</a:t>
            </a:r>
            <a:endParaRPr lang="en-US" sz="3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429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peticiones atendidas por app-1 y app-2 (cabecera X-Served-By)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7432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de 30</a:t>
            </a:r>
            <a:endParaRPr lang="en-US" sz="380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3429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200 con una VM caída: el ALB la saca de rotación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27432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26" name="Text 24"/>
          <p:cNvSpPr txBox="1"/>
          <p:nvPr/>
        </p:nvSpPr>
        <p:spPr>
          <a:xfrm>
            <a:off x="603504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de la BD abiertos a internet (solo el SG de App e Ingesta)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en React, desplegada en AWS Amplify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 la aplicación en producción</a:t>
            </a:r>
            <a:endParaRPr lang="en-US" sz="1400" dirty="0"/>
          </a:p>
        </p:txBody>
      </p:sp>
      <p:pic>
        <p:nvPicPr>
          <p:cNvPr id="4" name="Image 0" descr="/home/m4ik_1/Documentos/cloudddd/entregables/capturas/01-customer-restaura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2697480" cy="1643777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365760" y="3015377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20,000 restaurantes paginados</a:t>
            </a:r>
            <a:endParaRPr lang="en-US" sz="1200" dirty="0"/>
          </a:p>
        </p:txBody>
      </p:sp>
      <p:pic>
        <p:nvPicPr>
          <p:cNvPr id="6" name="Image 1" descr="/home/m4ik_1/Documentos/cloudddd/entregables/capturas/02-customer-menu-resen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280160"/>
            <a:ext cx="2697480" cy="1643777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3200400" y="3015377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Reseñas: promedio, lista y formulario</a:t>
            </a:r>
            <a:endParaRPr lang="en-US" sz="1200" dirty="0"/>
          </a:p>
        </p:txBody>
      </p:sp>
      <p:pic>
        <p:nvPicPr>
          <p:cNvPr id="8" name="Image 2" descr="/home/m4ik_1/Documentos/cloudddd/entregables/capturas/03-admin-pedid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280160"/>
            <a:ext cx="2697480" cy="1643777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pic>
      <p:sp>
        <p:nvSpPr>
          <p:cNvPr id="9" name="Text 4"/>
          <p:cNvSpPr txBox="1"/>
          <p:nvPr/>
        </p:nvSpPr>
        <p:spPr>
          <a:xfrm>
            <a:off x="6035040" y="3015377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platos y cantidades de cada pedido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365760" y="4160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los 5 microservicios por el API Gateway: 5 · 9 · 8 · 4 · 2 llamadas REST hacia MS1 … MS5 (el mínimo pedido era 2 por servicio).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Data Science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bases de datos a una consulta SQL en Athena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E6E9FB"/>
          </a:solidFill>
          <a:ln w="19050">
            <a:solidFill>
              <a:srgbClr val="3B48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14173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bases de datos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PG · Mongo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1897380"/>
            <a:ext cx="228600" cy="0"/>
          </a:xfrm>
          <a:prstGeom prst="line">
            <a:avLst/>
          </a:prstGeom>
          <a:noFill/>
          <a:ln w="19050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783080" y="141732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FFF3E0"/>
          </a:solidFill>
          <a:ln w="19050">
            <a:solidFill>
              <a:srgbClr val="ED71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83080" y="14173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 de ingesta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contenedores Python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1897380"/>
            <a:ext cx="228600" cy="0"/>
          </a:xfrm>
          <a:prstGeom prst="line">
            <a:avLst/>
          </a:prstGeom>
          <a:noFill/>
          <a:ln w="19050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46120" y="141732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E8F5E1"/>
          </a:solidFill>
          <a:ln w="19050">
            <a:solidFill>
              <a:srgbClr val="3F86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46120" y="14173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· Data Lake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JSONL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1897380"/>
            <a:ext cx="228600" cy="0"/>
          </a:xfrm>
          <a:prstGeom prst="line">
            <a:avLst/>
          </a:prstGeom>
          <a:noFill/>
          <a:ln w="19050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09160" y="141732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F1E9FF"/>
          </a:solidFill>
          <a:ln w="19050">
            <a:solidFill>
              <a:srgbClr val="8C4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09160" y="14173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 + catálogo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897380"/>
            <a:ext cx="228600" cy="0"/>
          </a:xfrm>
          <a:prstGeom prst="line">
            <a:avLst/>
          </a:prstGeom>
          <a:noFill/>
          <a:ln w="19050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72200" y="141732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F1E9FF"/>
          </a:solidFill>
          <a:ln w="19050">
            <a:solidFill>
              <a:srgbClr val="8C4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14173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Athena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2 vistas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06640" y="1897380"/>
            <a:ext cx="228600" cy="0"/>
          </a:xfrm>
          <a:prstGeom prst="line">
            <a:avLst/>
          </a:prstGeom>
          <a:noFill/>
          <a:ln w="19050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35240" y="141732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FDECEF"/>
          </a:solidFill>
          <a:ln w="19050">
            <a:solidFill>
              <a:srgbClr val="DD344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35240" y="14173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MS5 → Web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 en la SPA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8803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del 100 %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3832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contenedor extrae todas las tablas de un microservicio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28803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8328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refresh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33832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reemplaza el snapshot anterior: sin duplicados en Athena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35040" y="28803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7220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tablas en Glue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33832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direcciones, orders, order_items y mongodb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datos en AWS Glue</a:t>
            </a:r>
            <a:endParaRPr lang="en-US" sz="2800" dirty="0"/>
          </a:p>
        </p:txBody>
      </p:sp>
      <p:pic>
        <p:nvPicPr>
          <p:cNvPr id="3" name="Image 0" descr="/home/m4ik_1/Documentos/cloudddd/infra/diagramas/er-catalogo-g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8046720" cy="41320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y vistas en Amazon Athena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consultas con JOIN sobre varias tablas y 2 vistas · con el ID de cada ejecución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822960"/>
                <a:gridCol w="19202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Tablas unidas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de ejecución (Athena)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Ventas por restaurante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+ order_items + mongodb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6568912e-2abe…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Clientes con mayor gasto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+ usuarios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890bb508-1f76…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Platos más vendidos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order_items + orders + mongodb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8b7213e4-57ce…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Ciudad del cliente vs. entrega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+ usuarios + direcciones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45f534a4-801f…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Vista v_resumen_ventas_restaurante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JOIN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ac099df1-4664…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Vista v_metricas_usuarios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JOIN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13e4a748-b0ae…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457200" y="3657600"/>
          <a:ext cx="82296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Paginado opcional: de megabytes a kilobytes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ruta, dos modos: sin parámetros devuelve todo; con ?page= y ?page_size= devuelve una página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paginar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828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MB · 0.84 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828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KB · 60 ms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697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(MS1)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2697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 MB · 2.3 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697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página: 14 ms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566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 (20,000)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35661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MB · 1.0 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566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12: 14 ms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page_size vale 20 por defecto y se limita a 100 · total en la cabecera X-Total-Count · mediciones locales con unos 40 mil pedidos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validación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de Postman/Newman · 66 aserciones · 0 fallos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188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recorridos completos con Playwright sobre la URL de Amplify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188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200 con una de las 2 VMs caída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F2F4F7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83464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error incluidos: 400, 401 y 422; con y sin paginado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Conteos de Athena coinciden con las bases de datos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22, 3306, 5432 y 27017 cerrados a internet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verificado en los 5 servicios a través del API Gateway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y próximos pasos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2F4F7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actuales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VMs aún aceptan el puerto 80 desde internet: cerrar y dejar solo el ALB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 se despliega con un zip: conectar GitHub para CI/CD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t2.micro (1 GB) con swap: subir a t3.small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2F4F7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30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Derivar el usuario de las reseñas del token JWT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la ingesta y el crawler (EventBridge)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password_hash del data lake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57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Cloud · microservicios, data lake y analítica en AWS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(repositorio público)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github.com/miguelespinozaa-ship-it/ProeyctParcialProp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(AWS Amplify)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main.duqtfdxa5tvcw.amplifyapp.com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pública (API Gateway, HTTPS)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jt3z0elcud.execute-api.us-east-1.amazonaws.com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Cloud</dc:title>
  <dc:subject>PptxGenJS Presentation</dc:subject>
  <dc:creator>PptxGenJS</dc:creator>
  <cp:lastModifiedBy>PptxGenJS</cp:lastModifiedBy>
  <cp:revision>1</cp:revision>
  <dcterms:created xsi:type="dcterms:W3CDTF">2026-09-21T12:49:19Z</dcterms:created>
  <dcterms:modified xsi:type="dcterms:W3CDTF">2026-09-21T12:49:19Z</dcterms:modified>
</cp:coreProperties>
</file>